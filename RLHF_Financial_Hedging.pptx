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RLHF Financial Hedging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CCCCC"/>
                </a:solidFill>
              </a:rPr>
              <a:t>Aligning GPT-2 to prefer hedged, cautious financial language
over speculative overconfidence — using the full RLHF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069080"/>
            <a:ext cx="1188720" cy="548640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690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4114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4069080"/>
            <a:ext cx="1188720" cy="54864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0690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41148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4069080"/>
            <a:ext cx="1188720" cy="54864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0690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515600" cy="685800"/>
          </a:xfrm>
          <a:prstGeom prst="rect">
            <a:avLst/>
          </a:prstGeom>
          <a:solidFill>
            <a:srgbClr val="18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86460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4A853"/>
                </a:solidFill>
              </a:rPr>
              <a:t>✅  "The stock may experience volatility depending on interest rate decisions."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937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A4335"/>
                </a:solidFill>
              </a:rPr>
              <a:t>❌  "This stock will DEFINITELY skyrocket!  Guaranteed massive gains!"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4864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1848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BBC04"/>
                </a:solidFill>
              </a:rPr>
              <a:t>LLMs trained only on next-token prediction have no preference for cautious language.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97480"/>
            <a:ext cx="54864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697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157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CCCCC"/>
                </a:solidFill>
              </a:rPr>
              <a:t>Financial text on the internet mixes hedged analyst reports with speculative retail hype.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94760"/>
            <a:ext cx="54864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We want a model that prefers epistemic humility:
    'may', 'could', 'subject to' over 'will definitely', 'guaranteed', 'skyrocket'.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892040"/>
            <a:ext cx="548640" cy="5486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892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9103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4C8BF5"/>
                </a:solidFill>
              </a:rPr>
              <a:t>Solution: RLHF — reinforce completions that score high on a learned hedge-quality reward.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Three-Stage RLHF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3657600" cy="43891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3657600" cy="411480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Stage 1  ·  SFT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Supervised Fine-Tuning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Fine-tune GPT-2 on a mixed financial corpus
(hedged + speculative + neutral sentences)
so the model learns the financial domain.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8BF5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657600" cy="43891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657600" cy="41148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Stage 2  ·  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148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Reward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6974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Train a Bradley-Terry reward model on
pairwise preference data:
(hedged sentence &gt; speculative sentence)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089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8BF5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645920"/>
            <a:ext cx="3657600" cy="43891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645920"/>
            <a:ext cx="3657600" cy="41148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664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Stage 3  ·  PPO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488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Reinforcement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6974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Optimise the policy with PPO:
R_total = r_RM(text) − β×KL(policy ‖ SFT)
KL penalty prevents reward hacking.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Stage 1 — Supervised Fine-Tuning (SFT)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8BF5"/>
                </a:solidFill>
              </a:rPr>
              <a:t>Training Corpus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5303520" cy="1143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A853"/>
                </a:solidFill>
              </a:rPr>
              <a:t>✅ Hedged (15 examples)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"The stock appears to be undervalued relative
to historical price-to-earnings ratios."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383279"/>
            <a:ext cx="5303520" cy="1143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456431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4335"/>
                </a:solidFill>
              </a:rPr>
              <a:t>❌ Speculative (5 examples)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49039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"This stock will definitely hit $500 by end of year!"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663440"/>
            <a:ext cx="5303520" cy="11430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36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CCCC"/>
                </a:solidFill>
              </a:rPr>
              <a:t>⚪ Neutral (5 examples)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2920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"The Federal Reserve announced its decision
on interest rates yesterday."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6002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8BF5"/>
                </a:solidFill>
              </a:rPr>
              <a:t>Config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5577840" cy="34747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2128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2128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GPT-2 (117M parameters)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Epochs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7432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73552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Batch size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2735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803904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Learning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80390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5e-5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34256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Warmup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33425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8646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CCCC"/>
                </a:solidFill>
              </a:rPr>
              <a:t>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86460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outputs/sft_checkpoint/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STAGE 2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Stage 2 — Reward Model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BBC04"/>
                </a:solidFill>
              </a:rPr>
              <a:t>Bradley-Terry Loss: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  =  − E [ log σ( r(preferred) − r(dispreferred) )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43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BBC04"/>
                </a:solidFill>
              </a:rPr>
              <a:t>Pairwise Training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5303520" cy="1188720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46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A853"/>
                </a:solidFill>
              </a:rPr>
              <a:t>✅  PREFERRED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"The stock may experience significant volatility
if interest rates rise further."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5204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BC04"/>
                </a:solidFill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200400"/>
            <a:ext cx="5303520" cy="1188720"/>
          </a:xfrm>
          <a:prstGeom prst="rect">
            <a:avLst/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246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4335"/>
                </a:solidFill>
              </a:rPr>
              <a:t>❌  DISPREFERRED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6616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"The stock will definitely skyrocket once
interest rates change!"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617720"/>
            <a:ext cx="5303520" cy="1188720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A853"/>
                </a:solidFill>
              </a:rPr>
              <a:t>✅  PREFERRED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9834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"Inflation data suggests the central bank might
consider pausing rate hikes."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9377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BBC04"/>
                </a:solidFill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17720"/>
            <a:ext cx="5303520" cy="1188720"/>
          </a:xfrm>
          <a:prstGeom prst="rect">
            <a:avLst/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4335"/>
                </a:solidFill>
              </a:rPr>
              <a:t>❌  DISPREFERRED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9834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CCCC"/>
                </a:solidFill>
              </a:rPr>
              <a:t>"The Fed will 100% cut rates — unstoppable
rally in equities!"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REWARD SIGNAL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Heuristic Hedge Score — Proxy for Human Labels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10058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642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raw   =  hedge_count  −  1.5 × spec_count  −  caps_penalty  −  exclaim_penalty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4A853"/>
                </a:solidFill>
              </a:rPr>
              <a:t>score  =  sigmoid(raw)      ∈  [0, 1]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88920"/>
            <a:ext cx="5577840" cy="1554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5577840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8163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Hedge words   (+1 each)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may · might · could · possibly ·
potentially · subject to · risk ·
analysis suggests · depending on 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788920"/>
            <a:ext cx="5577840" cy="1554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2788920"/>
            <a:ext cx="5577840" cy="34747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81635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Speculative words   (−1.5 each)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will definitely · guaranteed ·
skyrocket · to the moon · 100% ·
buy now · can't lose 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26279"/>
            <a:ext cx="5577840" cy="1554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526279"/>
            <a:ext cx="5577840" cy="34747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55371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ALL-CAPS ratio   (−0 to −2)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3775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Proportion of uppercase chars
multiplied by 2.0
(penalises sensationalism)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526279"/>
            <a:ext cx="5577840" cy="15544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4526279"/>
            <a:ext cx="5577840" cy="34747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553711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Exclamation marks   (−0.3 each)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5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Capped at −1.0
(penalises emotional hype)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STAGE 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Stage 3 — PPO Reinforcement Learning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11430000" cy="9144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4A853"/>
                </a:solidFill>
              </a:rPr>
              <a:t>Total Reward: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R_total(x, y)  =  r_RM(x, y)  −  β × KL( π_θ(y|x) ‖ π_SFT(y|x) 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3657600" cy="1828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743200"/>
            <a:ext cx="3657600" cy="38404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614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r_RM(x, 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Reward from the trained
reward model — higher for
hedged completions.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743200"/>
            <a:ext cx="3657600" cy="1828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743200"/>
            <a:ext cx="3657600" cy="38404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7614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β × KL(…)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200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KL penalty — keeps policy
close to SFT reference.
Prevents reward hacking.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743200"/>
            <a:ext cx="3657600" cy="18288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743200"/>
            <a:ext cx="3657600" cy="38404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614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Adaptive 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200400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β auto-adjusts to hit
target_kl=6.0 — balances
quality vs. coherence.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709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</a:rPr>
              <a:t>Key Hyperparameters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20640"/>
            <a:ext cx="11430000" cy="150876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num_steps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138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30 (demo) / 100-200 (production)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init_kl_coef 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5138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cliprange 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55138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0.2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target_kl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55138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6.0  (adaptive β target)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51937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batch_size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5513832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 prompts per PPO step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REWARD HACKING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Reward Hacking — Why KL Penalty is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CCCC"/>
                </a:solidFill>
              </a:rPr>
              <a:t>Without KL penalty, the policy learns to game the reward by stuffing hedge words with no coherent meaning: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11430000" cy="868680"/>
          </a:xfrm>
          <a:prstGeom prst="rect">
            <a:avLst/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28600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4335"/>
                </a:solidFill>
              </a:rPr>
              <a:t>HACKED (gamed) — Score: 0.99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8775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"may might could possibly potentially uncertain risk volatility
if depending on contingent subject to change."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46120"/>
            <a:ext cx="11430000" cy="868680"/>
          </a:xfrm>
          <a:prstGeom prst="rect">
            <a:avLst/>
          </a:prstGeom>
          <a:solidFill>
            <a:srgbClr val="3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9184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A4335"/>
                </a:solidFill>
              </a:rPr>
              <a:t>HACKED (gamed) — Score: 0.97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93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"The stock may could possibly might uncertain possibly may could
depending on if."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51960"/>
            <a:ext cx="11430000" cy="868680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2976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A853"/>
                </a:solidFill>
              </a:rPr>
              <a:t>GENUINE hedge — Score: 0.73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9943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"The stock may decline if inflation persists beyond the current quarter."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57800"/>
            <a:ext cx="11430000" cy="868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3035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CCCCC"/>
                </a:solidFill>
              </a:rPr>
              <a:t>No hedge — Score: 0.50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052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</a:rPr>
              <a:t>"The stock rose sharply after earnings were released yesterday."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6217920"/>
            <a:ext cx="11430000" cy="5029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24535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8BF5"/>
                </a:solidFill>
              </a:rPr>
              <a:t>🔑  KL term forces the policy to stay close to the coherent SFT distribution — high-scoring completions must ALSO make linguistic sense.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Results — SFT vs PPO Hedge Scores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411480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190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SFT Score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7190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PPO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190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7190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11430000" cy="502920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219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Whether inflation will continue to 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2219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2219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2219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+0.17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219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✅ improved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697480"/>
            <a:ext cx="11430000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277063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risk of a market 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706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77063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77063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+0.16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77063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✅ improved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246120"/>
            <a:ext cx="11430000" cy="502920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3192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company's outlook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33192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3192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31927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+0.14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31927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✅ improved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94760"/>
            <a:ext cx="11430000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386791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Based on recent earnings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867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0.43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38679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0.57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8679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+0.14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38679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✅ improved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343400"/>
            <a:ext cx="11430000" cy="502920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4165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Portfolio risk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4165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0.48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441655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41655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+0.14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44165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✅ improved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892040"/>
            <a:ext cx="11430000" cy="50292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96519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Federal Reserve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49651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0.44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496519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0.47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49651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A853"/>
                </a:solidFill>
              </a:rPr>
              <a:t>+0.03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49651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➖ marginal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715000"/>
            <a:ext cx="11430000" cy="822960"/>
          </a:xfrm>
          <a:prstGeom prst="rect">
            <a:avLst/>
          </a:prstGeom>
          <a:solidFill>
            <a:srgbClr val="143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583387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</a:rPr>
              <a:t>Average score delta across 30 PPO steps:  +0.13   |   Forward-looking prompts show strongest improvement   |   Short neutral prompts show weaker signal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Interactive Gradio Demo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657600" cy="4206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657600" cy="365760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55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port 7860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Compare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Type a financial prompt.
See SFT vs PPO completions
side-by-side with hedge scores
and delta.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✅ Needs trained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66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app_compare.py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737360"/>
            <a:ext cx="3657600" cy="4206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737360"/>
            <a:ext cx="3657600" cy="36576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1755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port 7861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Hedge Score Analyser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6974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Paste any financial text.
Get a full scoring breakdown:
which words helped, which
hurt, and by how much.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4A853"/>
                </a:solidFill>
              </a:rPr>
              <a:t>✅ No models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5166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app_hedge_analyser.py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37360"/>
            <a:ext cx="3657600" cy="420624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737360"/>
            <a:ext cx="3657600" cy="365760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55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port 7862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19456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Reward Hacking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9748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Static explainer page.
Shows gamed outputs and
explains why KL penalty
prevents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7548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C04"/>
                </a:solidFill>
              </a:rPr>
              <a:t>✅ No models needed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1663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CCCCC"/>
                </a:solidFill>
              </a:rPr>
              <a:t>app_reward_hacking.py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108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8BF5"/>
                </a:solidFill>
              </a:rPr>
              <a:t>uv run python demo/app.py          # all three tabs at once  →  http://localhost:7860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CODE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Project 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11430000" cy="502920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09928"/>
            <a:ext cx="11430000" cy="40233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74650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configs/config.py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746504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All hyperparameters in one place — ModelConfig, SFTConfig, RewardModelConfig, PPOConfig, PathConfig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30552"/>
            <a:ext cx="11430000" cy="40233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16712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data/corpus.py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67128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SFT corpus, pairwise preference pairs (15 hedged &gt; 15 speculative), PPO prompt pool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551176"/>
            <a:ext cx="11430000" cy="40233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58775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utils/reward_utils.py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587752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compute_hedge_score() — heuristic proxy for human labels; HEDGE_WORDS &amp; SPECULATIVE_WORDS lexicons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11430000" cy="40233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0837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models/reward_model.py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008376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Bradley-Terry reward model builder; pairwise loss function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92424"/>
            <a:ext cx="11430000" cy="40233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models/policy_model.py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42900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Policy + frozen SFT reference model builders; generate_completion()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13048"/>
            <a:ext cx="11430000" cy="40233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4962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training/sft_trainer.py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849624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Stage 1 — HuggingFace Trainer fine-tuning on financial corpus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33672"/>
            <a:ext cx="11430000" cy="40233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7024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training/rm_trainer.py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270248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Stage 2 — custom training loop with Bradley-Terry pairwise loss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54296"/>
            <a:ext cx="11430000" cy="40233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6908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training/ppo_trainer.py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4690872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Stage 3 — TRL PPOTrainer with KL-penalised reward; adaptive 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074920"/>
            <a:ext cx="11430000" cy="40233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1149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scripts/train_all.py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111496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End-to-end CLI runner: runs SFT → RM → PPO in sequence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495544"/>
            <a:ext cx="11430000" cy="402336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53212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demo/app*.py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5532120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Gradio web UI — one combined app + three standalone tab apps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916168"/>
            <a:ext cx="11430000" cy="402336"/>
          </a:xfrm>
          <a:prstGeom prst="rect">
            <a:avLst/>
          </a:prstGeom>
          <a:solidFill>
            <a:srgbClr val="28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595274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C8BF5"/>
                </a:solidFill>
              </a:rPr>
              <a:t>evaluation/evaluator.py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5952744"/>
            <a:ext cx="8046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SFT vs PPO comparison, training curve plots, reward hacking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2194560" cy="347472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777240"/>
            <a:ext cx="11430000" cy="36576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Extensions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3657600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3657600" cy="384048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19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🔬  Replace heuristic reward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6712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Swap compute_hedge_score() for a fine-tuned
financial hedging classifier (e.g. FinBERT).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691640"/>
            <a:ext cx="3657600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691640"/>
            <a:ext cx="3657600" cy="38404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719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📄  Real financial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16712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Replace SFT_DATA with SEC filings, earnings
call transcripts, or Bloomberg news.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91640"/>
            <a:ext cx="3657600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3657600" cy="384048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71907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👤  Human annotation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67128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Build an annotation interface to collect real
pairwise labels instead of heuristic proxies.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977639"/>
            <a:ext cx="3657600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977639"/>
            <a:ext cx="3657600" cy="38404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00507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🔄  DPO instead of PPO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53127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Replace PPO training with Direct Preference
Optimisation (trl.DPOTrainer) — simpler pipeline.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977639"/>
            <a:ext cx="3657600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3977639"/>
            <a:ext cx="3657600" cy="384048"/>
          </a:xfrm>
          <a:prstGeom prst="rect">
            <a:avLst/>
          </a:prstGeom>
          <a:solidFill>
            <a:srgbClr val="4C8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400507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📈  Scale up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453127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Use --model gpt2-medium or gpt2-large.
Scale PPO steps to 200+ for robust alignment.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3977639"/>
            <a:ext cx="3657600" cy="2011680"/>
          </a:xfrm>
          <a:prstGeom prst="rect">
            <a:avLst/>
          </a:prstGeom>
          <a:solidFill>
            <a:srgbClr val="44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977639"/>
            <a:ext cx="3657600" cy="38404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4005071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🏆  Multi-objective reward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453127"/>
            <a:ext cx="3383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Combine hedge score + factuality score +
readability score in the PPO reward signal.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217920"/>
            <a:ext cx="11430000" cy="50292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27278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A853"/>
                </a:solidFill>
              </a:rPr>
              <a:t>uv run python scripts/train_all.py --ppo_steps 200 --model gpt2-medium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CCCCCC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